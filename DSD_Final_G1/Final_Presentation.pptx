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00985E8-C57F-407F-B7C7-23812EE7F72F}">
  <a:tblStyle styleId="{900985E8-C57F-407F-B7C7-23812EE7F72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80358C69-E7C4-4320-9A97-51BE84AB7F7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ab2a5a3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ab2a5a3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ab2a5a34d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ab2a5a34d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ab2a5a34d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ab2a5a34d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ab51999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ab51999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ab2a5a34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ab2a5a34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ab5199987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ab5199987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ab519998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ab519998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ab5199987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eab5199987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ab5199987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ab5199987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ab2a5a34d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ab2a5a34d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ab2a5a34d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eab2a5a34d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ab2a5a34d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eab2a5a34d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ab2a5a34d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eab2a5a34d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ab2a5a34d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eab2a5a34d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ab5199987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eab5199987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ab2a5a34d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eab2a5a34d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DSD Final Project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2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Group 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B12901008 </a:t>
            </a:r>
            <a:r>
              <a:rPr lang="zh-TW"/>
              <a:t>鍾佳聿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B12901137 楊祐宇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Score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Area: </a:t>
            </a:r>
            <a:r>
              <a:rPr lang="zh-TW"/>
              <a:t>769950.832599 </a:t>
            </a:r>
            <a:r>
              <a:rPr lang="zh-TW"/>
              <a:t>um</a:t>
            </a:r>
            <a:r>
              <a:rPr baseline="30000" lang="zh-TW"/>
              <a:t>2</a:t>
            </a:r>
            <a:endParaRPr baseline="30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Synthesis Cycle time: </a:t>
            </a:r>
            <a:r>
              <a:rPr lang="zh-TW"/>
              <a:t>2.7 </a:t>
            </a:r>
            <a:r>
              <a:rPr lang="zh-TW"/>
              <a:t>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Gate simulation Cycle time:</a:t>
            </a:r>
            <a:r>
              <a:rPr lang="zh-TW"/>
              <a:t> 2.7  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Qsort: </a:t>
            </a:r>
            <a:r>
              <a:rPr lang="zh-TW"/>
              <a:t>193798.947 </a:t>
            </a:r>
            <a:r>
              <a:rPr lang="zh-TW"/>
              <a:t>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Conv: </a:t>
            </a:r>
            <a:r>
              <a:rPr lang="zh-TW"/>
              <a:t>34423.347 </a:t>
            </a:r>
            <a:r>
              <a:rPr lang="zh-TW"/>
              <a:t>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LFSR_HIST: </a:t>
            </a:r>
            <a:r>
              <a:rPr lang="zh-TW"/>
              <a:t>722164.647 </a:t>
            </a:r>
            <a:r>
              <a:rPr lang="zh-TW"/>
              <a:t>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Cache Size - </a:t>
            </a:r>
            <a:r>
              <a:rPr lang="zh-TW"/>
              <a:t>CPP Experiment </a:t>
            </a:r>
            <a:endParaRPr/>
          </a:p>
        </p:txBody>
      </p:sp>
      <p:graphicFrame>
        <p:nvGraphicFramePr>
          <p:cNvPr id="67" name="Google Shape;67;p15"/>
          <p:cNvGraphicFramePr/>
          <p:nvPr/>
        </p:nvGraphicFramePr>
        <p:xfrm>
          <a:off x="830575" y="110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{900985E8-C57F-407F-B7C7-23812EE7F72F}</a:tableStyleId>
              </a:tblPr>
              <a:tblGrid>
                <a:gridCol w="1488000"/>
                <a:gridCol w="2805250"/>
                <a:gridCol w="3370650"/>
              </a:tblGrid>
              <a:tr h="294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Cache Size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I-cache Miss Rate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D-cache Miss Rate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16 blocks, 1-way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2.5498% / 3.6880% / 18.4577%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6.7210% / 21.2606% / 37.5730%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16 blocks, 2-way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3.7602% / 4.4479% / 9.6515%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5.0275% / 10.9595% / 37.7028%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32 blocks, 1-way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0.0541% / 0.9164% / 0.0130%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3.8209% / 2.9163% / 36.5347%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32 blocks, 2-way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0.0541% / 0.9164% / 0.0130%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2.7837% / 3.0574% / 36.2103%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64 blocks, 1-way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0.0541% / 0.8941% / 0.0130%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1.7041% / 2.9163% / 35.4964%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64 blocks, 2-way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0.0541% / 0.8941% / 0.0130%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0.9843% / 1.3641% / 34.7826%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8" name="Google Shape;68;p15"/>
          <p:cNvSpPr txBox="1"/>
          <p:nvPr/>
        </p:nvSpPr>
        <p:spPr>
          <a:xfrm>
            <a:off x="796875" y="3630375"/>
            <a:ext cx="77313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Data: Qsort / Conv / LFSR HIST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I cache miss rate saturate at 32block </a:t>
            </a:r>
            <a:r>
              <a:rPr lang="zh-TW" sz="1800">
                <a:solidFill>
                  <a:schemeClr val="dk2"/>
                </a:solidFill>
              </a:rPr>
              <a:t>in two cases</a:t>
            </a:r>
            <a:r>
              <a:rPr lang="zh-TW" sz="1800">
                <a:solidFill>
                  <a:schemeClr val="dk2"/>
                </a:solidFill>
              </a:rPr>
              <a:t>, since there’s less than 128 instructions.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Cache Size - </a:t>
            </a:r>
            <a:r>
              <a:rPr lang="zh-TW"/>
              <a:t>RTL Experiment 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2971350"/>
            <a:ext cx="8520600" cy="21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Compare I16 / D16 and I32 / D16, 32 block I cache decrease LFSR cycle time a lot.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Compare I32 / D32 and I32 / D16, 32 block D cache decrease Qsort, Conv cycle time.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FF0000"/>
                </a:solidFill>
              </a:rPr>
              <a:t>Final Decision: 32 block 1-way I cache + 32 block 2-way D cache </a:t>
            </a:r>
            <a:r>
              <a:rPr lang="zh-TW"/>
              <a:t> </a:t>
            </a:r>
            <a:endParaRPr/>
          </a:p>
        </p:txBody>
      </p:sp>
      <p:graphicFrame>
        <p:nvGraphicFramePr>
          <p:cNvPr id="75" name="Google Shape;75;p16"/>
          <p:cNvGraphicFramePr/>
          <p:nvPr/>
        </p:nvGraphicFramePr>
        <p:xfrm>
          <a:off x="6096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{900985E8-C57F-407F-B7C7-23812EE7F72F}</a:tableStyleId>
              </a:tblPr>
              <a:tblGrid>
                <a:gridCol w="1162050"/>
                <a:gridCol w="2190750"/>
                <a:gridCol w="2000250"/>
                <a:gridCol w="2571750"/>
              </a:tblGrid>
              <a:tr h="244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Cache Size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Total Cycles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MEM I Stall Cycles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MEM D Stall Cycles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4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I16 / D16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112201 / 21300 / 1226355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24241 / 1045 / 902177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19538 / 11754 / 18891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4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I32 / D16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87807 / 20873 / 278220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545 / 566 / 604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19538 / 11754 / 18891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4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I32 / D32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79718 / 14678 / 277771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545 / 566 / 604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11833 / 5845 / 18449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4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I32 / D64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73561 / 10965 / 277357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545 / 566 / 604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5945 / 2284 / 18025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4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I64 / D32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79718 / 14678 / 277771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545 / 566 / 604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11833 / 5845 / 18449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4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I64 / D64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73561 / 10965 / 277357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545 / 566 / 604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5945 / 2284 / 18025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6" name="Google Shape;76;p16"/>
          <p:cNvSpPr txBox="1"/>
          <p:nvPr/>
        </p:nvSpPr>
        <p:spPr>
          <a:xfrm>
            <a:off x="5235476" y="497059"/>
            <a:ext cx="3591000" cy="5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2"/>
                </a:solidFill>
              </a:rPr>
              <a:t>Data: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300">
                <a:solidFill>
                  <a:schemeClr val="dk2"/>
                </a:solidFill>
              </a:rPr>
              <a:t>Qsort / Conv / LFSR HIST , all 1 way cache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Design - Multiplication Support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6181275" y="1152475"/>
            <a:ext cx="2651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When mul in Ex stage, stall other stage for 2 cycle to wait multiplication result to finish.</a:t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375" y="1152475"/>
            <a:ext cx="6078225" cy="35026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/>
          <p:nvPr/>
        </p:nvSpPr>
        <p:spPr>
          <a:xfrm>
            <a:off x="164550" y="1191750"/>
            <a:ext cx="2971200" cy="34824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/>
          <p:nvPr/>
        </p:nvSpPr>
        <p:spPr>
          <a:xfrm>
            <a:off x="4816725" y="1191750"/>
            <a:ext cx="1290300" cy="34824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Branch Prediction - </a:t>
            </a:r>
            <a:r>
              <a:rPr lang="zh-TW"/>
              <a:t>CPP Experiment</a:t>
            </a:r>
            <a:endParaRPr/>
          </a:p>
        </p:txBody>
      </p:sp>
      <p:graphicFrame>
        <p:nvGraphicFramePr>
          <p:cNvPr id="91" name="Google Shape;91;p18"/>
          <p:cNvGraphicFramePr/>
          <p:nvPr/>
        </p:nvGraphicFramePr>
        <p:xfrm>
          <a:off x="276313" y="139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{80358C69-E7C4-4320-9A97-51BE84AB7F7C}</a:tableStyleId>
              </a:tblPr>
              <a:tblGrid>
                <a:gridCol w="1718275"/>
                <a:gridCol w="1718275"/>
                <a:gridCol w="1718275"/>
                <a:gridCol w="1718275"/>
                <a:gridCol w="17182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Pattern\</a:t>
                      </a:r>
                      <a:r>
                        <a:rPr lang="zh-TW"/>
                        <a:t>Algorithm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Always Not Take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Always Taken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BTFNT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3-bit counter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BrPred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37.97%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62.02%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73.42%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68.35%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Qsort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72.44%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27.56%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72.44%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70.48%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Conv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63.58%	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36.42%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66.05%	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63.58%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LFSR_HIST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85.46%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14.54%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85.46%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85.43%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2" name="Google Shape;92;p18"/>
          <p:cNvSpPr txBox="1"/>
          <p:nvPr/>
        </p:nvSpPr>
        <p:spPr>
          <a:xfrm>
            <a:off x="679813" y="3491950"/>
            <a:ext cx="7784400" cy="14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BTFNT (Backward Taken, Forward Not Taken) predicts backward branches as taken and forward branches as not taken.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Conclusion: Always Not Take achieve high accuracy in the 3 patterns with least hardware cost.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Branch Prediction - Assembly Code Analysis 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017725"/>
            <a:ext cx="35772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Example: LFSR_HIST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Branch taken or not highly depends on random numbers.     =&gt; Complicated dynamic branch predictors are not suitable.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FF0000"/>
                </a:solidFill>
              </a:rPr>
              <a:t>Final Decision: Always Not Taken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9"/>
          <p:cNvPicPr preferRelativeResize="0"/>
          <p:nvPr/>
        </p:nvPicPr>
        <p:blipFill rotWithShape="1">
          <a:blip r:embed="rId3">
            <a:alphaModFix/>
          </a:blip>
          <a:srcRect b="0" l="0" r="22857" t="0"/>
          <a:stretch/>
        </p:blipFill>
        <p:spPr>
          <a:xfrm>
            <a:off x="4060200" y="1134213"/>
            <a:ext cx="4850056" cy="3078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193100" y="304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Task Analysis -Stall reason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24795"/>
            <a:ext cx="9144002" cy="704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810371"/>
            <a:ext cx="9144001" cy="3102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193100" y="304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Design - </a:t>
            </a:r>
            <a:r>
              <a:rPr lang="zh-TW"/>
              <a:t>ID stage</a:t>
            </a:r>
            <a:r>
              <a:rPr lang="zh-TW"/>
              <a:t> JAL Resolution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229" y="877550"/>
            <a:ext cx="9342600" cy="36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Move JAL </a:t>
            </a:r>
            <a:r>
              <a:rPr lang="zh-TW"/>
              <a:t>resolution from EX stage to ID stage.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Penalty: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2 cycles </a:t>
            </a:r>
            <a:r>
              <a:rPr lang="zh-TW"/>
              <a:t>(resolution at EX, flush IF and ID) </a:t>
            </a:r>
            <a:r>
              <a:rPr lang="zh-TW"/>
              <a:t>-&gt; 1 cycle (</a:t>
            </a:r>
            <a:r>
              <a:rPr lang="zh-TW"/>
              <a:t>resolution at ID, </a:t>
            </a:r>
            <a:r>
              <a:rPr lang="zh-TW"/>
              <a:t>only flush IF)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Extract a dedicated JAL immediate (fast_jal_imm) directly from instruction bits, bypassing the general immediate generation MUX to shorten the critical path.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Branch and JALR stays in E</a:t>
            </a:r>
            <a:r>
              <a:rPr lang="zh-TW"/>
              <a:t>X</a:t>
            </a:r>
            <a:r>
              <a:rPr lang="zh-TW"/>
              <a:t> stage since they require </a:t>
            </a:r>
            <a:r>
              <a:rPr lang="zh-TW"/>
              <a:t>additional forwarding unit, which may extend the critical path.</a:t>
            </a:r>
            <a:r>
              <a:rPr lang="zh-TW"/>
              <a:t>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Discarded Optimization Method (Future Works)</a:t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1017725"/>
            <a:ext cx="8520600" cy="39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Branch Target Buffer (BTB) for JAL at IF Stage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Idea: Records JAL instruction PCs and their target addresses to enable immediate redirection during the Instruction Fetch (IF) stage.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Benefit: Completely eliminates pipeline stalls for recurring JAL instructions, achieving zero-penalty jumps.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Write Buffer (WB) for D-Cache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Idea: Temporarily stores evicted dirty blocks from the D-cache, allowing the cache to proceed with memory refills immediately.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Benefit: Decouples slow memory writebacks from the pipeline critical path, significantly reducing dcache_stall cycles.</a:t>
            </a:r>
            <a:r>
              <a:rPr lang="zh-TW"/>
              <a:t> </a:t>
            </a:r>
            <a:endParaRPr/>
          </a:p>
        </p:txBody>
      </p:sp>
      <p:sp>
        <p:nvSpPr>
          <p:cNvPr id="120" name="Google Shape;120;p22"/>
          <p:cNvSpPr txBox="1"/>
          <p:nvPr/>
        </p:nvSpPr>
        <p:spPr>
          <a:xfrm>
            <a:off x="5033500" y="2518113"/>
            <a:ext cx="3957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0000"/>
                </a:solidFill>
              </a:rPr>
              <a:t>Discarded due to long critical path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21" name="Google Shape;121;p22"/>
          <p:cNvSpPr txBox="1"/>
          <p:nvPr/>
        </p:nvSpPr>
        <p:spPr>
          <a:xfrm>
            <a:off x="5186400" y="4510725"/>
            <a:ext cx="3957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0000"/>
                </a:solidFill>
              </a:rPr>
              <a:t>Discarded due to large area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How do we utilize AI?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Generate Baseline Verilog Code</a:t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098650"/>
            <a:ext cx="5934300" cy="39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zh-TW" sz="1595"/>
              <a:t>Tell the AI what to do step by step. Check the code between each step.</a:t>
            </a:r>
            <a:endParaRPr sz="159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zh-TW" sz="1595"/>
              <a:t>Step1 : Add Instruction Support, and complicate random latency memory support, and hazard detection, forwarding unit.</a:t>
            </a:r>
            <a:endParaRPr sz="159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zh-TW" sz="1595"/>
              <a:t>Step2 : Add a baseline cache.</a:t>
            </a:r>
            <a:endParaRPr sz="159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zh-TW" sz="1595"/>
              <a:t>Step3 : Cut pipeline.</a:t>
            </a:r>
            <a:endParaRPr sz="159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zh-TW" sz="1595"/>
              <a:t>After RTL simulation, ask AI to generate test pattern to simulate different scenario for debugging.</a:t>
            </a:r>
            <a:endParaRPr sz="159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zh-TW" sz="1595"/>
              <a:t>Then, PASS!!! </a:t>
            </a:r>
            <a:endParaRPr sz="159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zh-TW" sz="1595"/>
              <a:t>*Highly recommand codex or something like that that can “live” in your IDE, so it can change your file automatically. Or you’ll have to copy and paste a lot.</a:t>
            </a:r>
            <a:endParaRPr sz="159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3"/>
              <a:buNone/>
            </a:pPr>
            <a:r>
              <a:t/>
            </a:r>
            <a:endParaRPr sz="1595"/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1750" y="311075"/>
            <a:ext cx="1756350" cy="314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51749" y="3399349"/>
            <a:ext cx="1756350" cy="1516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Optimization Experiment</a:t>
            </a:r>
            <a:endParaRPr/>
          </a:p>
        </p:txBody>
      </p:sp>
      <p:sp>
        <p:nvSpPr>
          <p:cNvPr id="140" name="Google Shape;140;p25"/>
          <p:cNvSpPr txBox="1"/>
          <p:nvPr>
            <p:ph idx="1" type="body"/>
          </p:nvPr>
        </p:nvSpPr>
        <p:spPr>
          <a:xfrm>
            <a:off x="311700" y="1152475"/>
            <a:ext cx="5665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Experiment on cache size, branch prediction……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Ask AI to generate C++ code to read the pattern, and simulate memory or branch prediction unit behavior.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Help us determine direction to improve without writing verilog (and perhaps heavy debugging </a:t>
            </a:r>
            <a:r>
              <a:rPr lang="zh-TW"/>
              <a:t>coming</a:t>
            </a:r>
            <a:r>
              <a:rPr lang="zh-TW"/>
              <a:t> after every modification……)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9950" y="1017725"/>
            <a:ext cx="2946550" cy="255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5"/>
          <p:cNvSpPr txBox="1"/>
          <p:nvPr/>
        </p:nvSpPr>
        <p:spPr>
          <a:xfrm>
            <a:off x="510600" y="3786750"/>
            <a:ext cx="7575300" cy="8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2"/>
                </a:solidFill>
              </a:rPr>
              <a:t>FAQ : Why not use Python?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2"/>
                </a:solidFill>
              </a:rPr>
              <a:t>C++ is considered faster, and … I’m not the one who have to write it, so why Python?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Some helper file</a:t>
            </a:r>
            <a:endParaRPr/>
          </a:p>
        </p:txBody>
      </p:sp>
      <p:sp>
        <p:nvSpPr>
          <p:cNvPr id="148" name="Google Shape;148;p26"/>
          <p:cNvSpPr txBox="1"/>
          <p:nvPr>
            <p:ph idx="1" type="body"/>
          </p:nvPr>
        </p:nvSpPr>
        <p:spPr>
          <a:xfrm>
            <a:off x="311700" y="1152475"/>
            <a:ext cx="8520600" cy="39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/>
              <a:t>I’m not good at Linux command (recently learned how to stop a background process, “kill -9”! ) and writing Makefile, and I’m lazy </a:t>
            </a:r>
            <a:r>
              <a:rPr lang="zh-TW" sz="1500"/>
              <a:t>opening multiple sessions to run synthesis simultaneously and automatically.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500"/>
              <a:t>I use AI to generate shell script or modify Makefile, so that I can type less command. 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500"/>
              <a:t>ex. 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500"/>
              <a:t>screenshot from .md for my teammate.</a:t>
            </a:r>
            <a:endParaRPr sz="1500"/>
          </a:p>
        </p:txBody>
      </p:sp>
      <p:pic>
        <p:nvPicPr>
          <p:cNvPr id="149" name="Google Shape;14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318" y="2571750"/>
            <a:ext cx="3539425" cy="166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571750"/>
            <a:ext cx="3324999" cy="2272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Use AI but fail:</a:t>
            </a:r>
            <a:endParaRPr/>
          </a:p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311700" y="1152475"/>
            <a:ext cx="4869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 tried asking AI to generate slide for checkpoint presentation and this presentation.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But give up since its awful layout and terrible aesthetic taste.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Words too small, and pictures are at weird position…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Not even close to this handmaded elaborated slide!!!</a:t>
            </a:r>
            <a:endParaRPr/>
          </a:p>
        </p:txBody>
      </p:sp>
      <p:pic>
        <p:nvPicPr>
          <p:cNvPr id="157" name="Google Shape;15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375" y="815025"/>
            <a:ext cx="3408337" cy="3820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Work Assignment Chart</a:t>
            </a:r>
            <a:endParaRPr/>
          </a:p>
        </p:txBody>
      </p:sp>
      <p:graphicFrame>
        <p:nvGraphicFramePr>
          <p:cNvPr id="163" name="Google Shape;163;p28"/>
          <p:cNvGraphicFramePr/>
          <p:nvPr/>
        </p:nvGraphicFramePr>
        <p:xfrm>
          <a:off x="952500" y="1985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{80358C69-E7C4-4320-9A97-51BE84AB7F7C}</a:tableStyleId>
              </a:tblPr>
              <a:tblGrid>
                <a:gridCol w="1243725"/>
                <a:gridCol w="5668700"/>
              </a:tblGrid>
              <a:tr h="690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鍾佳聿</a:t>
                      </a:r>
                      <a:endParaRPr sz="1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Cache Size Experiment</a:t>
                      </a:r>
                      <a:endParaRPr sz="1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Branch Prediction Experiment</a:t>
                      </a:r>
                      <a:endParaRPr sz="1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Compressed Instruction Extension</a:t>
                      </a:r>
                      <a:endParaRPr sz="1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Multiplication Extension</a:t>
                      </a:r>
                      <a:endParaRPr sz="1800"/>
                    </a:p>
                  </a:txBody>
                  <a:tcPr marT="91425" marB="91425" marR="91425" marL="91425" anchor="ctr"/>
                </a:tc>
              </a:tr>
              <a:tr h="690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楊祐宇</a:t>
                      </a:r>
                      <a:endParaRPr sz="1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Cache Associativity Experiment</a:t>
                      </a:r>
                      <a:endParaRPr sz="1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Assembly Code Analysis </a:t>
                      </a:r>
                      <a:endParaRPr sz="1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ID stage JAL Resolution</a:t>
                      </a:r>
                      <a:endParaRPr sz="1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chemeClr val="dk1"/>
                          </a:solidFill>
                        </a:rPr>
                        <a:t>Synthesis and Optimization</a:t>
                      </a:r>
                      <a:r>
                        <a:rPr lang="zh-TW" sz="1800"/>
                        <a:t> </a:t>
                      </a:r>
                      <a:endParaRPr sz="18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Thanks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