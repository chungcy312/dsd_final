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5E891B62-1DCB-4EEF-81BD-7BBC311309E3}">
  <a:tblStyle styleId="{5E891B62-1DCB-4EEF-81BD-7BBC311309E3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  <a:tblStyle styleId="{A4BF35FB-C0C0-469B-B324-AEED26281539}" styleName="Table_1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11" Type="http://schemas.openxmlformats.org/officeDocument/2006/relationships/slide" Target="slides/slide5.xml"/><Relationship Id="rId22" Type="http://schemas.openxmlformats.org/officeDocument/2006/relationships/slide" Target="slides/slide16.xml"/><Relationship Id="rId10" Type="http://schemas.openxmlformats.org/officeDocument/2006/relationships/slide" Target="slides/slide4.xml"/><Relationship Id="rId21" Type="http://schemas.openxmlformats.org/officeDocument/2006/relationships/slide" Target="slides/slide15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eab2a5a34d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eab2a5a34d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3eab2a5a34d_1_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g3eab2a5a34d_1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eab2a5a34d_1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eab2a5a34d_1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eab519998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eab519998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g3eab2a5a34d_0_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8" name="Google Shape;88;g3eab2a5a34d_0_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3eab5199987_1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3eab5199987_1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ab5199987_1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ab5199987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eab5199987_1_2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eab5199987_1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eab5199987_1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eab5199987_1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g3eab2a5a34d_1_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4" name="Google Shape;124;g3eab2a5a34d_1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g3eab2a5a34d_1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9" name="Google Shape;129;g3eab2a5a34d_1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g3eab2a5a34d_1_4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7" name="Google Shape;137;g3eab2a5a34d_1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eab2a5a34d_1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eab2a5a34d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eab2a5a34d_1_6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eab2a5a34d_1_6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eab5199987_2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0" name="Google Shape;160;g3eab5199987_2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eab2a5a34d_1_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eab2a5a34d_1_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T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Relationship Id="rId4" Type="http://schemas.openxmlformats.org/officeDocument/2006/relationships/image" Target="../media/image1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DSD Final Project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1293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Group 1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B12901008 </a:t>
            </a:r>
            <a:r>
              <a:rPr lang="zh-TW"/>
              <a:t>鍾佳聿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B12901137 楊祐宇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Score</a:t>
            </a:r>
            <a:endParaRPr/>
          </a:p>
        </p:txBody>
      </p:sp>
      <p:sp>
        <p:nvSpPr>
          <p:cNvPr id="61" name="Google Shape;61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Area: </a:t>
            </a:r>
            <a:r>
              <a:rPr lang="zh-TW"/>
              <a:t>769950.832599 </a:t>
            </a:r>
            <a:r>
              <a:rPr lang="zh-TW"/>
              <a:t>um</a:t>
            </a:r>
            <a:r>
              <a:rPr baseline="30000" lang="zh-TW"/>
              <a:t>2</a:t>
            </a:r>
            <a:endParaRPr baseline="300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Synthesis Cycle time: </a:t>
            </a:r>
            <a:r>
              <a:rPr lang="zh-TW"/>
              <a:t>2.7 </a:t>
            </a:r>
            <a:r>
              <a:rPr lang="zh-TW"/>
              <a:t>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Gate simulation Cycle time:</a:t>
            </a:r>
            <a:r>
              <a:rPr lang="zh-TW"/>
              <a:t> 2.7  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Qsort: </a:t>
            </a:r>
            <a:r>
              <a:rPr lang="zh-TW"/>
              <a:t>193798.947 </a:t>
            </a:r>
            <a:r>
              <a:rPr lang="zh-TW"/>
              <a:t>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Conv: </a:t>
            </a:r>
            <a:r>
              <a:rPr lang="zh-TW"/>
              <a:t>34423.347 </a:t>
            </a:r>
            <a:r>
              <a:rPr lang="zh-TW"/>
              <a:t>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LFSR_HIST: </a:t>
            </a:r>
            <a:r>
              <a:rPr lang="zh-TW"/>
              <a:t>722164.647 </a:t>
            </a:r>
            <a:r>
              <a:rPr lang="zh-TW"/>
              <a:t>ns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Score: 3.71e21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Cache Size - </a:t>
            </a:r>
            <a:r>
              <a:rPr lang="zh-TW"/>
              <a:t>CPP Experiment </a:t>
            </a:r>
            <a:endParaRPr/>
          </a:p>
        </p:txBody>
      </p:sp>
      <p:graphicFrame>
        <p:nvGraphicFramePr>
          <p:cNvPr id="67" name="Google Shape;67;p15"/>
          <p:cNvGraphicFramePr/>
          <p:nvPr/>
        </p:nvGraphicFramePr>
        <p:xfrm>
          <a:off x="830575" y="11008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{5E891B62-1DCB-4EEF-81BD-7BBC311309E3}</a:tableStyleId>
              </a:tblPr>
              <a:tblGrid>
                <a:gridCol w="1488000"/>
                <a:gridCol w="2805250"/>
                <a:gridCol w="3370650"/>
              </a:tblGrid>
              <a:tr h="294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Cache Size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I-cache Miss Rate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D-cache Miss Rate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16 blocks, 1-way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2.5498% / 3.6880% / 18.4577%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6.7210% / 21.2606% / 37.5730%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16 blocks, 2-way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3.7602% / 4.4479% / 9.6515%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5.0275% / 10.9595% / 37.7028%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32 blocks, 1-way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0.0541% / 0.9164% / 0.0130%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3.8209% / 2.9163% / 36.5347%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32 blocks, 2-way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0.0541% / 0.9164% / 0.0130%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2.7837% / 3.0574% / 36.2103%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64 blocks, 1-way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0.0541% / 0.8941% / 0.0130%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1.7041% / 2.9163% / 35.4964%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94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64 blocks, 2-way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0.0541% / 0.8941% / 0.0130%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0.9843% / 1.3641% / 34.7826%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68" name="Google Shape;68;p15"/>
          <p:cNvSpPr txBox="1"/>
          <p:nvPr/>
        </p:nvSpPr>
        <p:spPr>
          <a:xfrm>
            <a:off x="796875" y="3630375"/>
            <a:ext cx="7731300" cy="36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Data: Qsort / Conv / LFSR HIST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I cache miss rate saturate at 32block </a:t>
            </a:r>
            <a:r>
              <a:rPr lang="zh-TW" sz="1800">
                <a:solidFill>
                  <a:schemeClr val="dk2"/>
                </a:solidFill>
              </a:rPr>
              <a:t>in two cases</a:t>
            </a:r>
            <a:r>
              <a:rPr lang="zh-TW" sz="1800">
                <a:solidFill>
                  <a:schemeClr val="dk2"/>
                </a:solidFill>
              </a:rPr>
              <a:t>, since there’s less than 128 instructions. 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Cache Size - </a:t>
            </a:r>
            <a:r>
              <a:rPr lang="zh-TW"/>
              <a:t>RTL Experiment </a:t>
            </a:r>
            <a:endParaRPr/>
          </a:p>
        </p:txBody>
      </p:sp>
      <p:sp>
        <p:nvSpPr>
          <p:cNvPr id="74" name="Google Shape;74;p16"/>
          <p:cNvSpPr txBox="1"/>
          <p:nvPr>
            <p:ph idx="1" type="body"/>
          </p:nvPr>
        </p:nvSpPr>
        <p:spPr>
          <a:xfrm>
            <a:off x="311700" y="2971350"/>
            <a:ext cx="8520600" cy="217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Compare I16 / D16 and I32 / D16, 32 block I cache decrease LFSR cycle time a lot.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/>
              <a:t>Compare I32 / D32 and I32 / D16, 32 block D cache decrease Qsort, Conv cycle time.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FF0000"/>
                </a:solidFill>
              </a:rPr>
              <a:t>Final Decision: 32 block 1-way I cache + 32 block 2-way D cache </a:t>
            </a:r>
            <a:r>
              <a:rPr lang="zh-TW"/>
              <a:t> </a:t>
            </a:r>
            <a:endParaRPr/>
          </a:p>
        </p:txBody>
      </p:sp>
      <p:graphicFrame>
        <p:nvGraphicFramePr>
          <p:cNvPr id="75" name="Google Shape;75;p16"/>
          <p:cNvGraphicFramePr/>
          <p:nvPr/>
        </p:nvGraphicFramePr>
        <p:xfrm>
          <a:off x="609600" y="10177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{5E891B62-1DCB-4EEF-81BD-7BBC311309E3}</a:tableStyleId>
              </a:tblPr>
              <a:tblGrid>
                <a:gridCol w="1162050"/>
                <a:gridCol w="2190750"/>
                <a:gridCol w="2000250"/>
                <a:gridCol w="2571750"/>
              </a:tblGrid>
              <a:tr h="244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Cache Size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Total Cycles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MEM I Stall Cycles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MEM D Stall Cycles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4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I16 / D16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112201 / 21300 / 1226355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24241 / 1045 / 902177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19538 / 11754 / 18891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4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I32 / D16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87807 / 20873 / 278220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545 / 566 / 604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19538 / 11754 / 18891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4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I32 / D32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79718 / 14678 / 277771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545 / 566 / 604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11833 / 5845 / 18449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4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I32 / D64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73561 / 10965 / 277357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545 / 566 / 604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5945 / 2284 / 18025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4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I64 / D32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79718 / 14678 / 277771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545 / 566 / 604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11833 / 5845 / 18449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445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I64 / D64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73561 / 10965 / 277357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545 / 566 / 604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300"/>
                        <a:t>5945 / 2284 / 18025</a:t>
                      </a:r>
                      <a:endParaRPr sz="1300"/>
                    </a:p>
                  </a:txBody>
                  <a:tcPr marT="19050" marB="19050" marR="28575" marL="28575" anchor="b">
                    <a:lnL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5300">
                      <a:solidFill>
                        <a:srgbClr val="CCCCCC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76" name="Google Shape;76;p16"/>
          <p:cNvSpPr txBox="1"/>
          <p:nvPr/>
        </p:nvSpPr>
        <p:spPr>
          <a:xfrm>
            <a:off x="5235476" y="497059"/>
            <a:ext cx="3591000" cy="52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300">
                <a:solidFill>
                  <a:schemeClr val="dk2"/>
                </a:solidFill>
              </a:rPr>
              <a:t>Data:</a:t>
            </a:r>
            <a:endParaRPr sz="13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 sz="1300">
                <a:solidFill>
                  <a:schemeClr val="dk2"/>
                </a:solidFill>
              </a:rPr>
              <a:t>Qsort / Conv / LFSR HIST , all 1 way cache</a:t>
            </a:r>
            <a:endParaRPr sz="13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Design - Multiplication Support</a:t>
            </a:r>
            <a:endParaRPr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6181275" y="1152475"/>
            <a:ext cx="26511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zh-TW"/>
              <a:t>When mul in Ex stage, stall other stage for 2 cycle to wait multiplication result to finish.</a:t>
            </a:r>
            <a:endParaRPr/>
          </a:p>
        </p:txBody>
      </p:sp>
      <p:pic>
        <p:nvPicPr>
          <p:cNvPr id="83" name="Google Shape;83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2375" y="1152475"/>
            <a:ext cx="6078225" cy="3502600"/>
          </a:xfrm>
          <a:prstGeom prst="rect">
            <a:avLst/>
          </a:prstGeom>
          <a:noFill/>
          <a:ln>
            <a:noFill/>
          </a:ln>
        </p:spPr>
      </p:pic>
      <p:sp>
        <p:nvSpPr>
          <p:cNvPr id="84" name="Google Shape;84;p17"/>
          <p:cNvSpPr/>
          <p:nvPr/>
        </p:nvSpPr>
        <p:spPr>
          <a:xfrm>
            <a:off x="164550" y="1191750"/>
            <a:ext cx="2971200" cy="34824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5" name="Google Shape;85;p17"/>
          <p:cNvSpPr/>
          <p:nvPr/>
        </p:nvSpPr>
        <p:spPr>
          <a:xfrm>
            <a:off x="4816725" y="1191750"/>
            <a:ext cx="1290300" cy="3482400"/>
          </a:xfrm>
          <a:prstGeom prst="rect">
            <a:avLst/>
          </a:prstGeom>
          <a:noFill/>
          <a:ln cap="flat" cmpd="sng" w="76200">
            <a:solidFill>
              <a:srgbClr val="FF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Branch Prediction - </a:t>
            </a:r>
            <a:r>
              <a:rPr lang="zh-TW"/>
              <a:t>CPP Experiment</a:t>
            </a:r>
            <a:endParaRPr/>
          </a:p>
        </p:txBody>
      </p:sp>
      <p:graphicFrame>
        <p:nvGraphicFramePr>
          <p:cNvPr id="91" name="Google Shape;91;p18"/>
          <p:cNvGraphicFramePr/>
          <p:nvPr/>
        </p:nvGraphicFramePr>
        <p:xfrm>
          <a:off x="276313" y="13921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{A4BF35FB-C0C0-469B-B324-AEED26281539}</a:tableStyleId>
              </a:tblPr>
              <a:tblGrid>
                <a:gridCol w="1718275"/>
                <a:gridCol w="1718275"/>
                <a:gridCol w="1718275"/>
                <a:gridCol w="1718275"/>
                <a:gridCol w="1718275"/>
              </a:tblGrid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Pattern\</a:t>
                      </a:r>
                      <a:r>
                        <a:rPr lang="zh-TW"/>
                        <a:t>Algorithm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Always Not Take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Always Taken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BTFNT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3-bit counter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BrPred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37.97%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62.02%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73.42%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68.35%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Qsort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72.44%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27.56%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72.44%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70.48%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Conv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63.58%	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36.42%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66.05%	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63.58%</a:t>
                      </a:r>
                      <a:endParaRPr/>
                    </a:p>
                  </a:txBody>
                  <a:tcPr marT="91425" marB="91425" marR="91425" marL="91425"/>
                </a:tc>
              </a:tr>
              <a:tr h="38100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LFSR_HIST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85.46%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14.54%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>
                          <a:solidFill>
                            <a:schemeClr val="dk1"/>
                          </a:solidFill>
                        </a:rPr>
                        <a:t>85.46%</a:t>
                      </a:r>
                      <a:endParaRPr/>
                    </a:p>
                  </a:txBody>
                  <a:tcPr marT="91425" marB="91425" marR="91425" marL="91425"/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/>
                        <a:t>85.43%</a:t>
                      </a:r>
                      <a:endParaRPr/>
                    </a:p>
                  </a:txBody>
                  <a:tcPr marT="91425" marB="91425" marR="91425" marL="91425"/>
                </a:tc>
              </a:tr>
            </a:tbl>
          </a:graphicData>
        </a:graphic>
      </p:graphicFrame>
      <p:sp>
        <p:nvSpPr>
          <p:cNvPr id="92" name="Google Shape;92;p18"/>
          <p:cNvSpPr txBox="1"/>
          <p:nvPr/>
        </p:nvSpPr>
        <p:spPr>
          <a:xfrm>
            <a:off x="679813" y="3491950"/>
            <a:ext cx="7784400" cy="148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BTFNT (Backward Taken, Forward Not Taken) predicts backward branches as taken and forward branches as not taken. </a:t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chemeClr val="dk2"/>
                </a:solidFill>
              </a:rPr>
              <a:t>Conclusion: Always Not Take achieve high accuracy in the 3 patterns with least hardware cost.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Branch Prediction - Assembly Code Analysis </a:t>
            </a:r>
            <a:endParaRPr/>
          </a:p>
        </p:txBody>
      </p:sp>
      <p:sp>
        <p:nvSpPr>
          <p:cNvPr id="98" name="Google Shape;98;p19"/>
          <p:cNvSpPr txBox="1"/>
          <p:nvPr>
            <p:ph idx="1" type="body"/>
          </p:nvPr>
        </p:nvSpPr>
        <p:spPr>
          <a:xfrm>
            <a:off x="311700" y="1017725"/>
            <a:ext cx="3577200" cy="3551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Example: LFSR_HIST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Branch taken or not highly depends on random numbers.     =&gt; Complicated dynamic branch predictors are not suitable.</a:t>
            </a:r>
            <a:endParaRPr/>
          </a:p>
          <a:p>
            <a:pPr indent="0" lvl="0" marL="0" rtl="0" algn="l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zh-TW">
                <a:solidFill>
                  <a:srgbClr val="FF0000"/>
                </a:solidFill>
              </a:rPr>
              <a:t>Final Decision: Always Not Taken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99" name="Google Shape;99;p19"/>
          <p:cNvPicPr preferRelativeResize="0"/>
          <p:nvPr/>
        </p:nvPicPr>
        <p:blipFill rotWithShape="1">
          <a:blip r:embed="rId3">
            <a:alphaModFix/>
          </a:blip>
          <a:srcRect b="0" l="0" r="22857" t="0"/>
          <a:stretch/>
        </p:blipFill>
        <p:spPr>
          <a:xfrm>
            <a:off x="4060200" y="1134213"/>
            <a:ext cx="4850056" cy="307823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0"/>
          <p:cNvSpPr txBox="1"/>
          <p:nvPr>
            <p:ph type="title"/>
          </p:nvPr>
        </p:nvSpPr>
        <p:spPr>
          <a:xfrm>
            <a:off x="193100" y="304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Task Analysis -Stall reason</a:t>
            </a:r>
            <a:endParaRPr/>
          </a:p>
        </p:txBody>
      </p:sp>
      <p:sp>
        <p:nvSpPr>
          <p:cNvPr id="105" name="Google Shape;10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06" name="Google Shape;106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024795"/>
            <a:ext cx="9144002" cy="704212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" name="Google Shape;107;p2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810371"/>
            <a:ext cx="9144001" cy="310280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1"/>
          <p:cNvSpPr txBox="1"/>
          <p:nvPr>
            <p:ph type="title"/>
          </p:nvPr>
        </p:nvSpPr>
        <p:spPr>
          <a:xfrm>
            <a:off x="193100" y="30485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Design - </a:t>
            </a:r>
            <a:r>
              <a:rPr lang="zh-TW"/>
              <a:t>ID stage</a:t>
            </a:r>
            <a:r>
              <a:rPr lang="zh-TW"/>
              <a:t> JAL Resolution</a:t>
            </a:r>
            <a:endParaRPr/>
          </a:p>
        </p:txBody>
      </p:sp>
      <p:sp>
        <p:nvSpPr>
          <p:cNvPr id="113" name="Google Shape;113;p21"/>
          <p:cNvSpPr txBox="1"/>
          <p:nvPr>
            <p:ph idx="1" type="body"/>
          </p:nvPr>
        </p:nvSpPr>
        <p:spPr>
          <a:xfrm>
            <a:off x="31229" y="877550"/>
            <a:ext cx="9342600" cy="365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Move JAL </a:t>
            </a:r>
            <a:r>
              <a:rPr lang="zh-TW"/>
              <a:t>resolution from EX stage to ID stage.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Penalty: 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2 cycles </a:t>
            </a:r>
            <a:r>
              <a:rPr lang="zh-TW"/>
              <a:t>(resolution at EX, flush IF and ID) </a:t>
            </a:r>
            <a:r>
              <a:rPr lang="zh-TW"/>
              <a:t>-&gt; 1 cycle (</a:t>
            </a:r>
            <a:r>
              <a:rPr lang="zh-TW"/>
              <a:t>resolution at ID, </a:t>
            </a:r>
            <a:r>
              <a:rPr lang="zh-TW"/>
              <a:t>only flush IF)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Extract a dedicated JAL immediate (fast_jal_imm) directly from instruction bits, bypassing the general immediate generation MUX to shorten the critical path.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Branch and JALR stays in E</a:t>
            </a:r>
            <a:r>
              <a:rPr lang="zh-TW"/>
              <a:t>X</a:t>
            </a:r>
            <a:r>
              <a:rPr lang="zh-TW"/>
              <a:t> stage since they require </a:t>
            </a:r>
            <a:r>
              <a:rPr lang="zh-TW"/>
              <a:t>additional forwarding unit, which may extend the critical path.</a:t>
            </a:r>
            <a:r>
              <a:rPr lang="zh-TW"/>
              <a:t> 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Discarded Optimization Method (Future Works)</a:t>
            </a:r>
            <a:endParaRPr/>
          </a:p>
        </p:txBody>
      </p:sp>
      <p:sp>
        <p:nvSpPr>
          <p:cNvPr id="119" name="Google Shape;119;p22"/>
          <p:cNvSpPr txBox="1"/>
          <p:nvPr>
            <p:ph idx="1" type="body"/>
          </p:nvPr>
        </p:nvSpPr>
        <p:spPr>
          <a:xfrm>
            <a:off x="311700" y="1017725"/>
            <a:ext cx="8520600" cy="397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Branch Target Buffer (BTB) for JAL at IF Stage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Idea: Records JAL instruction PCs and their target addresses to enable immediate redirection during the Instruction Fetch (IF) stage.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Benefit: Completely eliminates pipeline stalls for recurring JAL instructions, achieving zero-penalty jumps.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zh-TW"/>
              <a:t>Write Buffer (WB) for D-Cache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Idea: Temporarily stores evicted dirty blocks from the D-cache, allowing the cache to proceed with memory refills immediately.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Benefit: Decouples slow memory writebacks from the pipeline critical path, significantly reducing dcache_stall cycles.</a:t>
            </a:r>
            <a:r>
              <a:rPr lang="zh-TW"/>
              <a:t> </a:t>
            </a:r>
            <a:endParaRPr/>
          </a:p>
        </p:txBody>
      </p:sp>
      <p:sp>
        <p:nvSpPr>
          <p:cNvPr id="120" name="Google Shape;120;p22"/>
          <p:cNvSpPr txBox="1"/>
          <p:nvPr/>
        </p:nvSpPr>
        <p:spPr>
          <a:xfrm>
            <a:off x="5033500" y="2518113"/>
            <a:ext cx="3957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</a:rPr>
              <a:t>Discarded due to long critical path</a:t>
            </a:r>
            <a:endParaRPr sz="1800">
              <a:solidFill>
                <a:srgbClr val="FF0000"/>
              </a:solidFill>
            </a:endParaRPr>
          </a:p>
        </p:txBody>
      </p:sp>
      <p:sp>
        <p:nvSpPr>
          <p:cNvPr id="121" name="Google Shape;121;p22"/>
          <p:cNvSpPr txBox="1"/>
          <p:nvPr/>
        </p:nvSpPr>
        <p:spPr>
          <a:xfrm>
            <a:off x="5186400" y="4510725"/>
            <a:ext cx="3957600" cy="384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800">
                <a:solidFill>
                  <a:srgbClr val="FF0000"/>
                </a:solidFill>
              </a:rPr>
              <a:t>Discarded due to large area</a:t>
            </a:r>
            <a:endParaRPr sz="1800">
              <a:solidFill>
                <a:srgbClr val="FF0000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How do we utilize AI?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Generate Baseline Verilog Code</a:t>
            </a:r>
            <a:endParaRPr/>
          </a:p>
        </p:txBody>
      </p:sp>
      <p:sp>
        <p:nvSpPr>
          <p:cNvPr id="132" name="Google Shape;132;p24"/>
          <p:cNvSpPr txBox="1"/>
          <p:nvPr>
            <p:ph idx="1" type="body"/>
          </p:nvPr>
        </p:nvSpPr>
        <p:spPr>
          <a:xfrm>
            <a:off x="311700" y="1098650"/>
            <a:ext cx="5934300" cy="3947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5000"/>
              </a:lnSpc>
              <a:spcBef>
                <a:spcPts val="0"/>
              </a:spcBef>
              <a:spcAft>
                <a:spcPts val="0"/>
              </a:spcAft>
              <a:buSzPts val="853"/>
              <a:buNone/>
            </a:pPr>
            <a:r>
              <a:rPr lang="zh-TW" sz="1595"/>
              <a:t>Tell the AI what to do step by step. Check the code between each step.</a:t>
            </a:r>
            <a:endParaRPr sz="159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zh-TW" sz="1595"/>
              <a:t>Step1 : Add Instruction Support, and complicate random latency memory support, and hazard detection, forwarding unit.</a:t>
            </a:r>
            <a:endParaRPr sz="159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zh-TW" sz="1595"/>
              <a:t>Step2 : Add a baseline cache.</a:t>
            </a:r>
            <a:endParaRPr sz="159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zh-TW" sz="1595"/>
              <a:t>Step3 : Cut pipeline.</a:t>
            </a:r>
            <a:endParaRPr sz="159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zh-TW" sz="1595"/>
              <a:t>After RTL simulation, ask AI to generate test pattern to simulate different scenario for debugging.</a:t>
            </a:r>
            <a:endParaRPr sz="159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zh-TW" sz="1595"/>
              <a:t>Then, PASS!!! </a:t>
            </a:r>
            <a:endParaRPr sz="159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0"/>
              </a:spcAft>
              <a:buSzPts val="853"/>
              <a:buNone/>
            </a:pPr>
            <a:r>
              <a:rPr lang="zh-TW" sz="1595"/>
              <a:t>*Highly recommand codex or something like that that can “live” in your IDE, so it can change your file automatically. Or you’ll have to copy and paste a lot.</a:t>
            </a:r>
            <a:endParaRPr sz="1595"/>
          </a:p>
          <a:p>
            <a:pPr indent="0" lvl="0" marL="0" rtl="0" algn="l">
              <a:lnSpc>
                <a:spcPct val="95000"/>
              </a:lnSpc>
              <a:spcBef>
                <a:spcPts val="1200"/>
              </a:spcBef>
              <a:spcAft>
                <a:spcPts val="1200"/>
              </a:spcAft>
              <a:buSzPts val="853"/>
              <a:buNone/>
            </a:pPr>
            <a:r>
              <a:t/>
            </a:r>
            <a:endParaRPr sz="1595"/>
          </a:p>
        </p:txBody>
      </p:sp>
      <p:pic>
        <p:nvPicPr>
          <p:cNvPr id="133" name="Google Shape;133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751750" y="311075"/>
            <a:ext cx="1756350" cy="31420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34" name="Google Shape;134;p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751749" y="3399349"/>
            <a:ext cx="1756350" cy="151674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Optimization Experiment</a:t>
            </a:r>
            <a:endParaRPr/>
          </a:p>
        </p:txBody>
      </p:sp>
      <p:sp>
        <p:nvSpPr>
          <p:cNvPr id="140" name="Google Shape;140;p25"/>
          <p:cNvSpPr txBox="1"/>
          <p:nvPr>
            <p:ph idx="1" type="body"/>
          </p:nvPr>
        </p:nvSpPr>
        <p:spPr>
          <a:xfrm>
            <a:off x="311700" y="1152475"/>
            <a:ext cx="5665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Experiment on cache size, branch prediction……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Ask AI to generate C++ code to read the pattern, and simulate memory or branch prediction unit behavior. 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Help us determine direction to improve without writing verilog (and perhaps heavy debugging </a:t>
            </a:r>
            <a:r>
              <a:rPr lang="zh-TW"/>
              <a:t>coming</a:t>
            </a:r>
            <a:r>
              <a:rPr lang="zh-TW"/>
              <a:t> after every modification……)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141" name="Google Shape;14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19950" y="1017725"/>
            <a:ext cx="2946550" cy="2552050"/>
          </a:xfrm>
          <a:prstGeom prst="rect">
            <a:avLst/>
          </a:prstGeom>
          <a:noFill/>
          <a:ln>
            <a:noFill/>
          </a:ln>
        </p:spPr>
      </p:pic>
      <p:sp>
        <p:nvSpPr>
          <p:cNvPr id="142" name="Google Shape;142;p25"/>
          <p:cNvSpPr txBox="1"/>
          <p:nvPr/>
        </p:nvSpPr>
        <p:spPr>
          <a:xfrm>
            <a:off x="510600" y="3786750"/>
            <a:ext cx="7575300" cy="88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2"/>
                </a:solidFill>
              </a:rPr>
              <a:t>FAQ : Why not use Python?</a:t>
            </a:r>
            <a:endParaRPr sz="20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2000">
                <a:solidFill>
                  <a:schemeClr val="dk2"/>
                </a:solidFill>
              </a:rPr>
              <a:t>C++ is considered faster, and … I’m not the one who have to write it, so why Python?</a:t>
            </a:r>
            <a:endParaRPr sz="20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Some helper file</a:t>
            </a:r>
            <a:endParaRPr/>
          </a:p>
        </p:txBody>
      </p:sp>
      <p:sp>
        <p:nvSpPr>
          <p:cNvPr id="148" name="Google Shape;148;p26"/>
          <p:cNvSpPr txBox="1"/>
          <p:nvPr>
            <p:ph idx="1" type="body"/>
          </p:nvPr>
        </p:nvSpPr>
        <p:spPr>
          <a:xfrm>
            <a:off x="311700" y="1152475"/>
            <a:ext cx="8520600" cy="393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 sz="1500"/>
              <a:t>I’m not good at Linux command (recently learned how to stop a background process, “kill -9”! ) and writing Makefile, and I’m lazy </a:t>
            </a:r>
            <a:r>
              <a:rPr lang="zh-TW" sz="1500"/>
              <a:t>opening multiple sessions to run synthesis simultaneously and automatically.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500"/>
              <a:t>I use AI to generate shell script or modify Makefile, so that I can type less command. 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 sz="1500"/>
              <a:t>ex. </a:t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5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 sz="1500"/>
              <a:t>screenshot from .md for my teammate.</a:t>
            </a:r>
            <a:endParaRPr sz="1500"/>
          </a:p>
        </p:txBody>
      </p:sp>
      <p:pic>
        <p:nvPicPr>
          <p:cNvPr id="149" name="Google Shape;14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37318" y="2571750"/>
            <a:ext cx="3539425" cy="166805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0" name="Google Shape;150;p26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2571750"/>
            <a:ext cx="3324999" cy="227292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Use AI but fail:</a:t>
            </a:r>
            <a:endParaRPr/>
          </a:p>
        </p:txBody>
      </p:sp>
      <p:sp>
        <p:nvSpPr>
          <p:cNvPr id="156" name="Google Shape;156;p27"/>
          <p:cNvSpPr txBox="1"/>
          <p:nvPr>
            <p:ph idx="1" type="body"/>
          </p:nvPr>
        </p:nvSpPr>
        <p:spPr>
          <a:xfrm>
            <a:off x="311700" y="1152475"/>
            <a:ext cx="48690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I tried asking AI to generate slide for checkpoint presentation and this presentation.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But give up since its awful layout and terrible aesthetic taste.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zh-TW"/>
              <a:t>Words too small, and pictures are at weird position…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zh-TW"/>
              <a:t>Not even close to this handmaded elaborated slide!!!</a:t>
            </a:r>
            <a:endParaRPr/>
          </a:p>
        </p:txBody>
      </p:sp>
      <p:pic>
        <p:nvPicPr>
          <p:cNvPr id="157" name="Google Shape;15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365375" y="815025"/>
            <a:ext cx="3408337" cy="382097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Work Assignment Chart</a:t>
            </a:r>
            <a:endParaRPr/>
          </a:p>
        </p:txBody>
      </p:sp>
      <p:graphicFrame>
        <p:nvGraphicFramePr>
          <p:cNvPr id="163" name="Google Shape;163;p28"/>
          <p:cNvGraphicFramePr/>
          <p:nvPr/>
        </p:nvGraphicFramePr>
        <p:xfrm>
          <a:off x="952500" y="19850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{A4BF35FB-C0C0-469B-B324-AEED26281539}</a:tableStyleId>
              </a:tblPr>
              <a:tblGrid>
                <a:gridCol w="1243725"/>
                <a:gridCol w="5668700"/>
              </a:tblGrid>
              <a:tr h="690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鍾佳聿</a:t>
                      </a:r>
                      <a:endParaRPr sz="1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Cache Size Experiment</a:t>
                      </a:r>
                      <a:endParaRPr sz="1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Branch Prediction Experiment</a:t>
                      </a:r>
                      <a:endParaRPr sz="1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Compressed Instruction Extension</a:t>
                      </a:r>
                      <a:endParaRPr sz="1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Multiplication Extension</a:t>
                      </a:r>
                      <a:endParaRPr sz="1800"/>
                    </a:p>
                  </a:txBody>
                  <a:tcPr marT="91425" marB="91425" marR="91425" marL="91425" anchor="ctr"/>
                </a:tc>
              </a:tr>
              <a:tr h="690250"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楊祐宇</a:t>
                      </a:r>
                      <a:endParaRPr sz="1800"/>
                    </a:p>
                  </a:txBody>
                  <a:tcPr marT="91425" marB="91425" marR="91425" marL="91425" anchor="ctr"/>
                </a:tc>
                <a:tc>
                  <a:txBody>
                    <a:bodyPr/>
                    <a:lstStyle/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Cache Associativity Experiment</a:t>
                      </a:r>
                      <a:endParaRPr sz="1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Assembly Code Analysis </a:t>
                      </a:r>
                      <a:endParaRPr sz="1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/>
                        <a:t>ID stage JAL Resolution</a:t>
                      </a:r>
                      <a:endParaRPr sz="1800"/>
                    </a:p>
                    <a:p>
                      <a:pPr indent="0" lvl="0" marL="0" rtl="0" algn="ctr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zh-TW" sz="1800">
                          <a:solidFill>
                            <a:schemeClr val="dk1"/>
                          </a:solidFill>
                        </a:rPr>
                        <a:t>Synthesis and Optimization</a:t>
                      </a:r>
                      <a:r>
                        <a:rPr lang="zh-TW" sz="1800"/>
                        <a:t> </a:t>
                      </a:r>
                      <a:endParaRPr sz="1800"/>
                    </a:p>
                  </a:txBody>
                  <a:tcPr marT="91425" marB="91425" marR="91425" marL="91425" anchor="ctr"/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zh-TW"/>
              <a:t>Thanks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